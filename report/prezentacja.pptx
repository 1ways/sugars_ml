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rial"/>
      </a:defRPr>
    </a:lvl1pPr>
    <a:lvl2pPr indent="228600" latinLnBrk="0">
      <a:defRPr sz="1200">
        <a:latin typeface="+mn-lt"/>
        <a:ea typeface="+mn-ea"/>
        <a:cs typeface="+mn-cs"/>
        <a:sym typeface="Arial"/>
      </a:defRPr>
    </a:lvl2pPr>
    <a:lvl3pPr indent="457200" latinLnBrk="0">
      <a:defRPr sz="1200">
        <a:latin typeface="+mn-lt"/>
        <a:ea typeface="+mn-ea"/>
        <a:cs typeface="+mn-cs"/>
        <a:sym typeface="Arial"/>
      </a:defRPr>
    </a:lvl3pPr>
    <a:lvl4pPr indent="685800" latinLnBrk="0">
      <a:defRPr sz="1200">
        <a:latin typeface="+mn-lt"/>
        <a:ea typeface="+mn-ea"/>
        <a:cs typeface="+mn-cs"/>
        <a:sym typeface="Arial"/>
      </a:defRPr>
    </a:lvl4pPr>
    <a:lvl5pPr indent="914400" latinLnBrk="0">
      <a:defRPr sz="1200">
        <a:latin typeface="+mn-lt"/>
        <a:ea typeface="+mn-ea"/>
        <a:cs typeface="+mn-cs"/>
        <a:sym typeface="Arial"/>
      </a:defRPr>
    </a:lvl5pPr>
    <a:lvl6pPr indent="1143000" latinLnBrk="0">
      <a:defRPr sz="1200">
        <a:latin typeface="+mn-lt"/>
        <a:ea typeface="+mn-ea"/>
        <a:cs typeface="+mn-cs"/>
        <a:sym typeface="Arial"/>
      </a:defRPr>
    </a:lvl6pPr>
    <a:lvl7pPr indent="1371600" latinLnBrk="0">
      <a:defRPr sz="1200">
        <a:latin typeface="+mn-lt"/>
        <a:ea typeface="+mn-ea"/>
        <a:cs typeface="+mn-cs"/>
        <a:sym typeface="Arial"/>
      </a:defRPr>
    </a:lvl7pPr>
    <a:lvl8pPr indent="1600200" latinLnBrk="0">
      <a:defRPr sz="1200">
        <a:latin typeface="+mn-lt"/>
        <a:ea typeface="+mn-ea"/>
        <a:cs typeface="+mn-cs"/>
        <a:sym typeface="Arial"/>
      </a:defRPr>
    </a:lvl8pPr>
    <a:lvl9pPr indent="1828800" latinLnBrk="0">
      <a:defRPr sz="12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640079" y="2050148"/>
            <a:ext cx="10908794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400">
                <a:solidFill>
                  <a:srgbClr val="BFBFBF"/>
                </a:solidFill>
              </a:defRPr>
            </a:lvl1pPr>
          </a:lstStyle>
          <a:p>
            <a:pPr/>
            <a:r>
              <a:t>SYSTEMY SZTUCZNEJ INTELIGENCJI - PROJEKT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640079" y="2696282"/>
            <a:ext cx="10908794" cy="12825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4999"/>
              </a:lnSpc>
              <a:defRPr b="1" sz="4400">
                <a:solidFill>
                  <a:srgbClr val="FFFFFF"/>
                </a:solidFill>
              </a:defRPr>
            </a:pPr>
            <a:r>
              <a:t>Analiza danych medycznych</a:t>
            </a:r>
          </a:p>
          <a:p>
            <a:pPr>
              <a:lnSpc>
                <a:spcPct val="104999"/>
              </a:lnSpc>
              <a:defRPr b="1" sz="4400">
                <a:solidFill>
                  <a:srgbClr val="FFFFFF"/>
                </a:solidFill>
              </a:defRPr>
            </a:pPr>
            <a:r>
              <a:t>i predykcja cukrzycy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640079" y="4461023"/>
            <a:ext cx="10908794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600">
                <a:solidFill>
                  <a:srgbClr val="BFBFBF"/>
                </a:solidFill>
              </a:defRPr>
            </a:lvl1pPr>
          </a:lstStyle>
          <a:p>
            <a:pPr/>
            <a:r>
              <a:t>Pima Indians Diabetes Dataset - Temat 4</a:t>
            </a:r>
          </a:p>
        </p:txBody>
      </p:sp>
      <p:sp>
        <p:nvSpPr>
          <p:cNvPr id="23" name="Shape 3"/>
          <p:cNvSpPr/>
          <p:nvPr/>
        </p:nvSpPr>
        <p:spPr>
          <a:xfrm>
            <a:off x="640079" y="5029200"/>
            <a:ext cx="219456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Text 4"/>
          <p:cNvSpPr txBox="1"/>
          <p:nvPr/>
        </p:nvSpPr>
        <p:spPr>
          <a:xfrm>
            <a:off x="640079" y="5296268"/>
            <a:ext cx="10908794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Anton Hryshchuk   ·   Ihor Kublytskyi   ·   Katsiaryna Kozhych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640079" y="5720032"/>
            <a:ext cx="1090879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808080"/>
                </a:solidFill>
              </a:defRPr>
            </a:lvl1pPr>
          </a:lstStyle>
          <a:p>
            <a:pPr/>
            <a:r>
              <a:t>Październik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 txBox="1"/>
          <p:nvPr/>
        </p:nvSpPr>
        <p:spPr>
          <a:xfrm>
            <a:off x="640079" y="553672"/>
            <a:ext cx="1090879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808080"/>
                </a:solidFill>
              </a:defRPr>
            </a:lvl1pPr>
          </a:lstStyle>
          <a:p>
            <a:pPr/>
            <a:r>
              <a:t>CORE IDEA</a:t>
            </a:r>
          </a:p>
        </p:txBody>
      </p:sp>
      <p:sp>
        <p:nvSpPr>
          <p:cNvPr id="28" name="Text 1"/>
          <p:cNvSpPr txBox="1"/>
          <p:nvPr/>
        </p:nvSpPr>
        <p:spPr>
          <a:xfrm>
            <a:off x="640079" y="979052"/>
            <a:ext cx="10908794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/>
            </a:lvl1pPr>
          </a:lstStyle>
          <a:p>
            <a:pPr/>
            <a:r>
              <a:t>Cel i idea projektu</a:t>
            </a:r>
          </a:p>
        </p:txBody>
      </p:sp>
      <p:sp>
        <p:nvSpPr>
          <p:cNvPr id="29" name="Text 2"/>
          <p:cNvSpPr txBox="1"/>
          <p:nvPr/>
        </p:nvSpPr>
        <p:spPr>
          <a:xfrm>
            <a:off x="640079" y="2059013"/>
            <a:ext cx="6035042" cy="1551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500">
                <a:solidFill>
                  <a:srgbClr val="333333"/>
                </a:solidFill>
              </a:defRPr>
            </a:lvl1pPr>
          </a:lstStyle>
          <a:p>
            <a:pPr/>
            <a:r>
              <a:t>Zbudowanie prostego, interpretowalnego modelu klasyfikacyjnego, który na podstawie pomiarów klinicznych pacjentki (poziom glukozy, BMI, wiek, liczba ciąż i in.) szacuje prawdopodobieństwo wystąpienia cukrzycy. Projekt obejmuje pełny cykl pracy z danymi - od surowego pliku CSV, przez czyszczenie i analizę eksploracyjną, aż po wytrenowany i oceniony model.</a:t>
            </a:r>
          </a:p>
        </p:txBody>
      </p:sp>
      <p:sp>
        <p:nvSpPr>
          <p:cNvPr id="30" name="Shape 3"/>
          <p:cNvSpPr/>
          <p:nvPr/>
        </p:nvSpPr>
        <p:spPr>
          <a:xfrm>
            <a:off x="640079" y="4297679"/>
            <a:ext cx="1737362" cy="146304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Text 4"/>
          <p:cNvSpPr txBox="1"/>
          <p:nvPr/>
        </p:nvSpPr>
        <p:spPr>
          <a:xfrm>
            <a:off x="640079" y="4594350"/>
            <a:ext cx="1737362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/>
            </a:lvl1pPr>
          </a:lstStyle>
          <a:p>
            <a:pPr/>
            <a:r>
              <a:t>768</a:t>
            </a:r>
          </a:p>
        </p:txBody>
      </p:sp>
      <p:sp>
        <p:nvSpPr>
          <p:cNvPr id="32" name="Text 5"/>
          <p:cNvSpPr txBox="1"/>
          <p:nvPr/>
        </p:nvSpPr>
        <p:spPr>
          <a:xfrm>
            <a:off x="731519" y="5234477"/>
            <a:ext cx="1554481" cy="275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808080"/>
                </a:solidFill>
              </a:defRPr>
            </a:lvl1pPr>
          </a:lstStyle>
          <a:p>
            <a:pPr/>
            <a:r>
              <a:t>pacjentek w zbiorze danych</a:t>
            </a:r>
          </a:p>
        </p:txBody>
      </p:sp>
      <p:sp>
        <p:nvSpPr>
          <p:cNvPr id="33" name="Shape 6"/>
          <p:cNvSpPr/>
          <p:nvPr/>
        </p:nvSpPr>
        <p:spPr>
          <a:xfrm>
            <a:off x="2651760" y="4297679"/>
            <a:ext cx="1737361" cy="146304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Text 7"/>
          <p:cNvSpPr txBox="1"/>
          <p:nvPr/>
        </p:nvSpPr>
        <p:spPr>
          <a:xfrm>
            <a:off x="2651760" y="4594350"/>
            <a:ext cx="1737361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/>
            </a:lvl1pPr>
          </a:lstStyle>
          <a:p>
            <a:pPr/>
            <a:r>
              <a:t>8</a:t>
            </a:r>
          </a:p>
        </p:txBody>
      </p:sp>
      <p:sp>
        <p:nvSpPr>
          <p:cNvPr id="35" name="Text 8"/>
          <p:cNvSpPr txBox="1"/>
          <p:nvPr/>
        </p:nvSpPr>
        <p:spPr>
          <a:xfrm>
            <a:off x="2743199" y="5304327"/>
            <a:ext cx="155448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808080"/>
                </a:solidFill>
              </a:defRPr>
            </a:lvl1pPr>
          </a:lstStyle>
          <a:p>
            <a:pPr/>
            <a:r>
              <a:t>cech klinicznych</a:t>
            </a:r>
          </a:p>
        </p:txBody>
      </p:sp>
      <p:sp>
        <p:nvSpPr>
          <p:cNvPr id="36" name="Shape 9"/>
          <p:cNvSpPr/>
          <p:nvPr/>
        </p:nvSpPr>
        <p:spPr>
          <a:xfrm>
            <a:off x="4663440" y="4297679"/>
            <a:ext cx="1737361" cy="146304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Text 10"/>
          <p:cNvSpPr txBox="1"/>
          <p:nvPr/>
        </p:nvSpPr>
        <p:spPr>
          <a:xfrm>
            <a:off x="4663440" y="4594350"/>
            <a:ext cx="1737361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/>
            </a:lvl1pPr>
          </a:lstStyle>
          <a:p>
            <a:pPr/>
            <a:r>
              <a:t>65% / 35%</a:t>
            </a:r>
          </a:p>
        </p:txBody>
      </p:sp>
      <p:sp>
        <p:nvSpPr>
          <p:cNvPr id="38" name="Text 11"/>
          <p:cNvSpPr txBox="1"/>
          <p:nvPr/>
        </p:nvSpPr>
        <p:spPr>
          <a:xfrm>
            <a:off x="4754879" y="5304327"/>
            <a:ext cx="155448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808080"/>
                </a:solidFill>
              </a:defRPr>
            </a:lvl1pPr>
          </a:lstStyle>
          <a:p>
            <a:pPr/>
            <a:r>
              <a:t>proporcja klas (Outcome)</a:t>
            </a:r>
          </a:p>
        </p:txBody>
      </p:sp>
      <p:sp>
        <p:nvSpPr>
          <p:cNvPr id="39" name="Shape 12"/>
          <p:cNvSpPr/>
          <p:nvPr/>
        </p:nvSpPr>
        <p:spPr>
          <a:xfrm>
            <a:off x="7223759" y="1783079"/>
            <a:ext cx="4325113" cy="397764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Text 13"/>
          <p:cNvSpPr txBox="1"/>
          <p:nvPr/>
        </p:nvSpPr>
        <p:spPr>
          <a:xfrm>
            <a:off x="7498080" y="2102010"/>
            <a:ext cx="377647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Pipeline projektu</a:t>
            </a:r>
          </a:p>
        </p:txBody>
      </p:sp>
      <p:sp>
        <p:nvSpPr>
          <p:cNvPr id="41" name="Text 14"/>
          <p:cNvSpPr txBox="1"/>
          <p:nvPr/>
        </p:nvSpPr>
        <p:spPr>
          <a:xfrm>
            <a:off x="7498080" y="2692744"/>
            <a:ext cx="45720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2" name="Text 15"/>
          <p:cNvSpPr txBox="1"/>
          <p:nvPr/>
        </p:nvSpPr>
        <p:spPr>
          <a:xfrm>
            <a:off x="8000999" y="2806098"/>
            <a:ext cx="3273554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Czyszczenie danych</a:t>
            </a:r>
          </a:p>
        </p:txBody>
      </p:sp>
      <p:sp>
        <p:nvSpPr>
          <p:cNvPr id="43" name="Text 16"/>
          <p:cNvSpPr txBox="1"/>
          <p:nvPr/>
        </p:nvSpPr>
        <p:spPr>
          <a:xfrm>
            <a:off x="7498080" y="3652864"/>
            <a:ext cx="45720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4" name="Text 17"/>
          <p:cNvSpPr txBox="1"/>
          <p:nvPr/>
        </p:nvSpPr>
        <p:spPr>
          <a:xfrm>
            <a:off x="8000999" y="3766218"/>
            <a:ext cx="3273554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Analiza eksploracyjna</a:t>
            </a:r>
          </a:p>
        </p:txBody>
      </p:sp>
      <p:sp>
        <p:nvSpPr>
          <p:cNvPr id="45" name="Text 18"/>
          <p:cNvSpPr txBox="1"/>
          <p:nvPr/>
        </p:nvSpPr>
        <p:spPr>
          <a:xfrm>
            <a:off x="7498080" y="4612984"/>
            <a:ext cx="45720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6" name="Text 19"/>
          <p:cNvSpPr txBox="1"/>
          <p:nvPr/>
        </p:nvSpPr>
        <p:spPr>
          <a:xfrm>
            <a:off x="8000999" y="4726338"/>
            <a:ext cx="3273554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Model i ewaluacja</a:t>
            </a:r>
          </a:p>
        </p:txBody>
      </p:sp>
      <p:sp>
        <p:nvSpPr>
          <p:cNvPr id="47" name="Text 20"/>
          <p:cNvSpPr txBox="1"/>
          <p:nvPr/>
        </p:nvSpPr>
        <p:spPr>
          <a:xfrm>
            <a:off x="640080" y="6520180"/>
            <a:ext cx="7315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BFBFBF"/>
                </a:solidFill>
              </a:defRPr>
            </a:lvl1pPr>
          </a:lstStyle>
          <a:p>
            <a:pPr/>
            <a:r>
              <a:t>Analiza danych medycznych i predykcja cukrzycy</a:t>
            </a:r>
          </a:p>
        </p:txBody>
      </p:sp>
      <p:sp>
        <p:nvSpPr>
          <p:cNvPr id="48" name="Text 21"/>
          <p:cNvSpPr txBox="1"/>
          <p:nvPr/>
        </p:nvSpPr>
        <p:spPr>
          <a:xfrm>
            <a:off x="11000231" y="6520180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BFBFBF"/>
                </a:solidFill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 txBox="1"/>
          <p:nvPr/>
        </p:nvSpPr>
        <p:spPr>
          <a:xfrm>
            <a:off x="640079" y="553672"/>
            <a:ext cx="1090879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808080"/>
                </a:solidFill>
              </a:defRPr>
            </a:lvl1pPr>
          </a:lstStyle>
          <a:p>
            <a:pPr/>
            <a:r>
              <a:t>WORKFLOW</a:t>
            </a:r>
          </a:p>
        </p:txBody>
      </p:sp>
      <p:sp>
        <p:nvSpPr>
          <p:cNvPr id="51" name="Text 1"/>
          <p:cNvSpPr txBox="1"/>
          <p:nvPr/>
        </p:nvSpPr>
        <p:spPr>
          <a:xfrm>
            <a:off x="640079" y="979052"/>
            <a:ext cx="10908794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/>
            </a:lvl1pPr>
          </a:lstStyle>
          <a:p>
            <a:pPr/>
            <a:r>
              <a:t>Przebieg prac - 3 fazy</a:t>
            </a:r>
          </a:p>
        </p:txBody>
      </p:sp>
      <p:sp>
        <p:nvSpPr>
          <p:cNvPr id="52" name="Shape 2"/>
          <p:cNvSpPr/>
          <p:nvPr/>
        </p:nvSpPr>
        <p:spPr>
          <a:xfrm>
            <a:off x="640079" y="1965960"/>
            <a:ext cx="3246122" cy="1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Text 3"/>
          <p:cNvSpPr txBox="1"/>
          <p:nvPr/>
        </p:nvSpPr>
        <p:spPr>
          <a:xfrm>
            <a:off x="640079" y="2185991"/>
            <a:ext cx="3246122" cy="382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BFBFBF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54" name="Text 4"/>
          <p:cNvSpPr txBox="1"/>
          <p:nvPr/>
        </p:nvSpPr>
        <p:spPr>
          <a:xfrm>
            <a:off x="640079" y="2769383"/>
            <a:ext cx="3246122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/>
            </a:lvl1pPr>
          </a:lstStyle>
          <a:p>
            <a:pPr/>
            <a:r>
              <a:t>Czyszczenie danych</a:t>
            </a:r>
          </a:p>
        </p:txBody>
      </p:sp>
      <p:sp>
        <p:nvSpPr>
          <p:cNvPr id="55" name="Text 5"/>
          <p:cNvSpPr txBox="1"/>
          <p:nvPr/>
        </p:nvSpPr>
        <p:spPr>
          <a:xfrm>
            <a:off x="640079" y="3569104"/>
            <a:ext cx="3246122" cy="1091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</a:defRPr>
            </a:pPr>
            <a:r>
              <a:t>Usunięcie duplikatów, zastąpienie</a:t>
            </a: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</a:defRPr>
            </a:pPr>
            <a:r>
              <a:t>nieprawidłowych zer brakami</a:t>
            </a: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</a:defRPr>
            </a:pPr>
            <a:r>
              <a:t>danych, imputacja medianą,</a:t>
            </a: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</a:defRPr>
            </a:pPr>
            <a:r>
              <a:t>połączenie (merge) z tabelą</a:t>
            </a: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</a:defRPr>
            </a:pPr>
            <a:r>
              <a:t>grup wiekowych.</a:t>
            </a:r>
          </a:p>
        </p:txBody>
      </p:sp>
      <p:sp>
        <p:nvSpPr>
          <p:cNvPr id="56" name="Text 6"/>
          <p:cNvSpPr txBox="1"/>
          <p:nvPr/>
        </p:nvSpPr>
        <p:spPr>
          <a:xfrm>
            <a:off x="640079" y="5366765"/>
            <a:ext cx="3246122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100">
                <a:solidFill>
                  <a:srgbClr val="808080"/>
                </a:solidFill>
              </a:defRPr>
            </a:lvl1pPr>
          </a:lstStyle>
          <a:p>
            <a:pPr/>
            <a:r>
              <a:t>Anton Hryshchuk</a:t>
            </a:r>
          </a:p>
        </p:txBody>
      </p:sp>
      <p:sp>
        <p:nvSpPr>
          <p:cNvPr id="57" name="Text 7"/>
          <p:cNvSpPr txBox="1"/>
          <p:nvPr/>
        </p:nvSpPr>
        <p:spPr>
          <a:xfrm>
            <a:off x="3904488" y="2601304"/>
            <a:ext cx="36576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BFBFBF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58" name="Shape 8"/>
          <p:cNvSpPr/>
          <p:nvPr/>
        </p:nvSpPr>
        <p:spPr>
          <a:xfrm>
            <a:off x="4297679" y="1965960"/>
            <a:ext cx="3246121" cy="1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Text 9"/>
          <p:cNvSpPr txBox="1"/>
          <p:nvPr/>
        </p:nvSpPr>
        <p:spPr>
          <a:xfrm>
            <a:off x="4297679" y="2185991"/>
            <a:ext cx="3246121" cy="382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BFBFBF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60" name="Text 10"/>
          <p:cNvSpPr txBox="1"/>
          <p:nvPr/>
        </p:nvSpPr>
        <p:spPr>
          <a:xfrm>
            <a:off x="4297679" y="2769383"/>
            <a:ext cx="324612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/>
            </a:lvl1pPr>
          </a:lstStyle>
          <a:p>
            <a:pPr/>
            <a:r>
              <a:t>Analiza eksploracyjna</a:t>
            </a:r>
          </a:p>
        </p:txBody>
      </p:sp>
      <p:sp>
        <p:nvSpPr>
          <p:cNvPr id="61" name="Text 11"/>
          <p:cNvSpPr txBox="1"/>
          <p:nvPr/>
        </p:nvSpPr>
        <p:spPr>
          <a:xfrm>
            <a:off x="4297679" y="3683926"/>
            <a:ext cx="3246121" cy="8617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</a:defRPr>
            </a:pPr>
            <a:r>
              <a:t>Statystyki opisowe, rozkład</a:t>
            </a: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</a:defRPr>
            </a:pPr>
            <a:r>
              <a:t>klas, wizualizacje cech,</a:t>
            </a: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</a:defRPr>
            </a:pPr>
            <a:r>
              <a:t>macierz korelacji Pearsona</a:t>
            </a: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</a:defRPr>
            </a:pPr>
            <a:r>
              <a:t>i ranking zależności z Outcome.</a:t>
            </a:r>
          </a:p>
        </p:txBody>
      </p:sp>
      <p:sp>
        <p:nvSpPr>
          <p:cNvPr id="62" name="Text 12"/>
          <p:cNvSpPr txBox="1"/>
          <p:nvPr/>
        </p:nvSpPr>
        <p:spPr>
          <a:xfrm>
            <a:off x="4297679" y="5366765"/>
            <a:ext cx="324612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100">
                <a:solidFill>
                  <a:srgbClr val="808080"/>
                </a:solidFill>
              </a:defRPr>
            </a:lvl1pPr>
          </a:lstStyle>
          <a:p>
            <a:pPr/>
            <a:r>
              <a:t>Ihor Kublytskyi</a:t>
            </a:r>
          </a:p>
        </p:txBody>
      </p:sp>
      <p:sp>
        <p:nvSpPr>
          <p:cNvPr id="63" name="Text 13"/>
          <p:cNvSpPr txBox="1"/>
          <p:nvPr/>
        </p:nvSpPr>
        <p:spPr>
          <a:xfrm>
            <a:off x="7562088" y="2601304"/>
            <a:ext cx="36576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BFBFBF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64" name="Shape 14"/>
          <p:cNvSpPr/>
          <p:nvPr/>
        </p:nvSpPr>
        <p:spPr>
          <a:xfrm>
            <a:off x="7955280" y="1965960"/>
            <a:ext cx="3246121" cy="1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Text 15"/>
          <p:cNvSpPr txBox="1"/>
          <p:nvPr/>
        </p:nvSpPr>
        <p:spPr>
          <a:xfrm>
            <a:off x="7955280" y="2185991"/>
            <a:ext cx="3246121" cy="382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BFBFBF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66" name="Text 16"/>
          <p:cNvSpPr txBox="1"/>
          <p:nvPr/>
        </p:nvSpPr>
        <p:spPr>
          <a:xfrm>
            <a:off x="7955280" y="2769383"/>
            <a:ext cx="324612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/>
            </a:lvl1pPr>
          </a:lstStyle>
          <a:p>
            <a:pPr/>
            <a:r>
              <a:t>Modelowanie i ewaluacja</a:t>
            </a:r>
          </a:p>
        </p:txBody>
      </p:sp>
      <p:sp>
        <p:nvSpPr>
          <p:cNvPr id="67" name="Text 17"/>
          <p:cNvSpPr txBox="1"/>
          <p:nvPr/>
        </p:nvSpPr>
        <p:spPr>
          <a:xfrm>
            <a:off x="7955280" y="3683926"/>
            <a:ext cx="3246121" cy="8617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</a:defRPr>
            </a:pPr>
            <a:r>
              <a:t>Podział 80/20, standaryzacja,</a:t>
            </a: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</a:defRPr>
            </a:pPr>
            <a:r>
              <a:t>regresja logistyczna,</a:t>
            </a: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</a:defRPr>
            </a:pPr>
            <a:r>
              <a:t>walidacja krzyżowa 5-fold,</a:t>
            </a: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</a:defRPr>
            </a:pPr>
            <a:r>
              <a:t>interpretacja współczynników.</a:t>
            </a:r>
          </a:p>
        </p:txBody>
      </p:sp>
      <p:sp>
        <p:nvSpPr>
          <p:cNvPr id="68" name="Text 18"/>
          <p:cNvSpPr txBox="1"/>
          <p:nvPr/>
        </p:nvSpPr>
        <p:spPr>
          <a:xfrm>
            <a:off x="7955280" y="5366765"/>
            <a:ext cx="324612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100">
                <a:solidFill>
                  <a:srgbClr val="808080"/>
                </a:solidFill>
              </a:defRPr>
            </a:lvl1pPr>
          </a:lstStyle>
          <a:p>
            <a:pPr/>
            <a:r>
              <a:t>Katsiaryna Kozhych</a:t>
            </a:r>
          </a:p>
        </p:txBody>
      </p:sp>
      <p:sp>
        <p:nvSpPr>
          <p:cNvPr id="69" name="Text 19"/>
          <p:cNvSpPr txBox="1"/>
          <p:nvPr/>
        </p:nvSpPr>
        <p:spPr>
          <a:xfrm>
            <a:off x="640080" y="6520180"/>
            <a:ext cx="7315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BFBFBF"/>
                </a:solidFill>
              </a:defRPr>
            </a:lvl1pPr>
          </a:lstStyle>
          <a:p>
            <a:pPr/>
            <a:r>
              <a:t>Analiza danych medycznych i predykcja cukrzycy</a:t>
            </a:r>
          </a:p>
        </p:txBody>
      </p:sp>
      <p:sp>
        <p:nvSpPr>
          <p:cNvPr id="70" name="Text 20"/>
          <p:cNvSpPr txBox="1"/>
          <p:nvPr/>
        </p:nvSpPr>
        <p:spPr>
          <a:xfrm>
            <a:off x="11000231" y="6520180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BFBFBF"/>
                </a:solidFill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0"/>
          <p:cNvSpPr txBox="1"/>
          <p:nvPr/>
        </p:nvSpPr>
        <p:spPr>
          <a:xfrm>
            <a:off x="640079" y="553672"/>
            <a:ext cx="1090879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808080"/>
                </a:solidFill>
              </a:defRPr>
            </a:lvl1pPr>
          </a:lstStyle>
          <a:p>
            <a:pPr/>
            <a:r>
              <a:t>DANE</a:t>
            </a:r>
          </a:p>
        </p:txBody>
      </p:sp>
      <p:sp>
        <p:nvSpPr>
          <p:cNvPr id="73" name="Text 1"/>
          <p:cNvSpPr txBox="1"/>
          <p:nvPr/>
        </p:nvSpPr>
        <p:spPr>
          <a:xfrm>
            <a:off x="640079" y="979052"/>
            <a:ext cx="10908794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/>
            </a:lvl1pPr>
          </a:lstStyle>
          <a:p>
            <a:pPr/>
            <a:r>
              <a:t>Zbiór danych</a:t>
            </a:r>
          </a:p>
        </p:txBody>
      </p:sp>
      <p:sp>
        <p:nvSpPr>
          <p:cNvPr id="74" name="Text 2"/>
          <p:cNvSpPr txBox="1"/>
          <p:nvPr/>
        </p:nvSpPr>
        <p:spPr>
          <a:xfrm>
            <a:off x="640079" y="1844408"/>
            <a:ext cx="10908794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333333"/>
                </a:solidFill>
              </a:defRPr>
            </a:lvl1pPr>
          </a:lstStyle>
          <a:p>
            <a:pPr/>
            <a:r>
              <a:t>Pima Indians Diabetes Dataset - 768 pacjentek, 8 cech klinicznych oraz zmienna docelowa Outcome.</a:t>
            </a:r>
          </a:p>
        </p:txBody>
      </p:sp>
      <p:graphicFrame>
        <p:nvGraphicFramePr>
          <p:cNvPr id="75" name="Table 0"/>
          <p:cNvGraphicFramePr/>
          <p:nvPr/>
        </p:nvGraphicFramePr>
        <p:xfrm>
          <a:off x="640080" y="2331720"/>
          <a:ext cx="10908793" cy="393192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291840"/>
                <a:gridCol w="7616952"/>
              </a:tblGrid>
              <a:tr h="4368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/>
                        <a:t>Pregnancies</a:t>
                      </a:r>
                    </a:p>
                  </a:txBody>
                  <a:tcPr marL="50800" marR="50800" marT="50800" marB="5080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3333"/>
                          </a:solidFill>
                        </a:rPr>
                        <a:t>Liczba przebytych ciąż</a:t>
                      </a:r>
                    </a:p>
                  </a:txBody>
                  <a:tcPr marL="50800" marR="50800" marT="50800" marB="5080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/>
                        <a:t>Glucose</a:t>
                      </a:r>
                    </a:p>
                  </a:txBody>
                  <a:tcPr marL="50800" marR="50800" marT="50800" marB="5080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3333"/>
                          </a:solidFill>
                        </a:rPr>
                        <a:t>Stężenie glukozy w osoczu krwi</a:t>
                      </a:r>
                    </a:p>
                  </a:txBody>
                  <a:tcPr marL="50800" marR="50800" marT="50800" marB="5080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/>
                        <a:t>BloodPressure</a:t>
                      </a:r>
                    </a:p>
                  </a:txBody>
                  <a:tcPr marL="50800" marR="50800" marT="50800" marB="5080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3333"/>
                          </a:solidFill>
                        </a:rPr>
                        <a:t>Rozkurczowe ciśnienie krwi (mm Hg)</a:t>
                      </a:r>
                    </a:p>
                  </a:txBody>
                  <a:tcPr marL="50800" marR="50800" marT="50800" marB="5080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/>
                        <a:t>SkinThickness</a:t>
                      </a:r>
                    </a:p>
                  </a:txBody>
                  <a:tcPr marL="50800" marR="50800" marT="50800" marB="5080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3333"/>
                          </a:solidFill>
                        </a:rPr>
                        <a:t>Grubość fałdu skórnego (mm)</a:t>
                      </a:r>
                    </a:p>
                  </a:txBody>
                  <a:tcPr marL="50800" marR="50800" marT="50800" marB="5080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/>
                        <a:t>Insulin</a:t>
                      </a:r>
                    </a:p>
                  </a:txBody>
                  <a:tcPr marL="50800" marR="50800" marT="50800" marB="5080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3333"/>
                          </a:solidFill>
                        </a:rPr>
                        <a:t>Stężenie insuliny w surowicy</a:t>
                      </a:r>
                    </a:p>
                  </a:txBody>
                  <a:tcPr marL="50800" marR="50800" marT="50800" marB="5080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/>
                        <a:t>BMI</a:t>
                      </a:r>
                    </a:p>
                  </a:txBody>
                  <a:tcPr marL="50800" marR="50800" marT="50800" marB="5080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3333"/>
                          </a:solidFill>
                        </a:rPr>
                        <a:t>Wskaźnik masy ciała</a:t>
                      </a:r>
                    </a:p>
                  </a:txBody>
                  <a:tcPr marL="50800" marR="50800" marT="50800" marB="5080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/>
                        <a:t>DiabetesPedigreeFunction</a:t>
                      </a:r>
                    </a:p>
                  </a:txBody>
                  <a:tcPr marL="50800" marR="50800" marT="50800" marB="5080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3333"/>
                          </a:solidFill>
                        </a:rPr>
                        <a:t>Wskaźnik dziedziczności cukrzycy</a:t>
                      </a:r>
                    </a:p>
                  </a:txBody>
                  <a:tcPr marL="50800" marR="50800" marT="50800" marB="5080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/>
                        <a:t>Age</a:t>
                      </a:r>
                    </a:p>
                  </a:txBody>
                  <a:tcPr marL="50800" marR="50800" marT="50800" marB="5080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3333"/>
                          </a:solidFill>
                        </a:rPr>
                        <a:t>Wiek pacjentki (lata)</a:t>
                      </a:r>
                    </a:p>
                  </a:txBody>
                  <a:tcPr marL="50800" marR="50800" marT="50800" marB="5080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Outcome</a:t>
                      </a:r>
                    </a:p>
                  </a:txBody>
                  <a:tcPr marL="50800" marR="50800" marT="50800" marB="5080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FFFFFF"/>
                          </a:solidFill>
                        </a:rPr>
                        <a:t>0 - brak cukrzycy, 1 - cukrzyca (zmienna docelowa)</a:t>
                      </a:r>
                    </a:p>
                  </a:txBody>
                  <a:tcPr marL="50800" marR="50800" marT="50800" marB="5080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76" name="Text 3"/>
          <p:cNvSpPr txBox="1"/>
          <p:nvPr/>
        </p:nvSpPr>
        <p:spPr>
          <a:xfrm>
            <a:off x="640080" y="6520180"/>
            <a:ext cx="7315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BFBFBF"/>
                </a:solidFill>
              </a:defRPr>
            </a:lvl1pPr>
          </a:lstStyle>
          <a:p>
            <a:pPr/>
            <a:r>
              <a:t>Analiza danych medycznych i predykcja cukrzycy</a:t>
            </a:r>
          </a:p>
        </p:txBody>
      </p:sp>
      <p:sp>
        <p:nvSpPr>
          <p:cNvPr id="77" name="Text 4"/>
          <p:cNvSpPr txBox="1"/>
          <p:nvPr/>
        </p:nvSpPr>
        <p:spPr>
          <a:xfrm>
            <a:off x="11000231" y="6520180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BFBFBF"/>
                </a:solidFill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 txBox="1"/>
          <p:nvPr/>
        </p:nvSpPr>
        <p:spPr>
          <a:xfrm>
            <a:off x="640079" y="553672"/>
            <a:ext cx="1090879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808080"/>
                </a:solidFill>
              </a:defRPr>
            </a:lvl1pPr>
          </a:lstStyle>
          <a:p>
            <a:pPr/>
            <a:r>
              <a:t>FAZA 1 · ANTON HRYSHCHUK</a:t>
            </a:r>
          </a:p>
        </p:txBody>
      </p:sp>
      <p:sp>
        <p:nvSpPr>
          <p:cNvPr id="80" name="Text 1"/>
          <p:cNvSpPr txBox="1"/>
          <p:nvPr/>
        </p:nvSpPr>
        <p:spPr>
          <a:xfrm>
            <a:off x="640079" y="979052"/>
            <a:ext cx="10908794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/>
            </a:lvl1pPr>
          </a:lstStyle>
          <a:p>
            <a:pPr/>
            <a:r>
              <a:t>Czyszczenie danych</a:t>
            </a:r>
          </a:p>
        </p:txBody>
      </p:sp>
      <p:sp>
        <p:nvSpPr>
          <p:cNvPr id="81" name="Text 2"/>
          <p:cNvSpPr txBox="1"/>
          <p:nvPr/>
        </p:nvSpPr>
        <p:spPr>
          <a:xfrm>
            <a:off x="640080" y="1964850"/>
            <a:ext cx="27432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808080"/>
                </a:solidFill>
              </a:defRPr>
            </a:lvl1pPr>
          </a:lstStyle>
          <a:p>
            <a:pPr/>
            <a:r>
              <a:t>-</a:t>
            </a:r>
          </a:p>
        </p:txBody>
      </p:sp>
      <p:sp>
        <p:nvSpPr>
          <p:cNvPr id="82" name="Text 3"/>
          <p:cNvSpPr txBox="1"/>
          <p:nvPr/>
        </p:nvSpPr>
        <p:spPr>
          <a:xfrm>
            <a:off x="960120" y="1828799"/>
            <a:ext cx="6126480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Sprawdzenie duplikatów (duplicated()) - nie znaleziono żadnych.</a:t>
            </a:r>
          </a:p>
        </p:txBody>
      </p:sp>
      <p:sp>
        <p:nvSpPr>
          <p:cNvPr id="83" name="Text 4"/>
          <p:cNvSpPr txBox="1"/>
          <p:nvPr/>
        </p:nvSpPr>
        <p:spPr>
          <a:xfrm>
            <a:off x="640080" y="2531778"/>
            <a:ext cx="27432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808080"/>
                </a:solidFill>
              </a:defRPr>
            </a:lvl1pPr>
          </a:lstStyle>
          <a:p>
            <a:pPr/>
            <a:r>
              <a:t>-</a:t>
            </a:r>
          </a:p>
        </p:txBody>
      </p:sp>
      <p:sp>
        <p:nvSpPr>
          <p:cNvPr id="84" name="Text 5"/>
          <p:cNvSpPr txBox="1"/>
          <p:nvPr/>
        </p:nvSpPr>
        <p:spPr>
          <a:xfrm>
            <a:off x="960120" y="2395727"/>
            <a:ext cx="6126480" cy="37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Zera w kolumnach Glucose, BloodPressure, SkinThickness, Insulin, BMI są fizjologicznie niemożliwe - zastąpione brakami danych (NaN).</a:t>
            </a:r>
          </a:p>
        </p:txBody>
      </p:sp>
      <p:sp>
        <p:nvSpPr>
          <p:cNvPr id="85" name="Text 6"/>
          <p:cNvSpPr txBox="1"/>
          <p:nvPr/>
        </p:nvSpPr>
        <p:spPr>
          <a:xfrm>
            <a:off x="640080" y="3098706"/>
            <a:ext cx="27432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808080"/>
                </a:solidFill>
              </a:defRPr>
            </a:lvl1pPr>
          </a:lstStyle>
          <a:p>
            <a:pPr/>
            <a:r>
              <a:t>-</a:t>
            </a:r>
          </a:p>
        </p:txBody>
      </p:sp>
      <p:sp>
        <p:nvSpPr>
          <p:cNvPr id="86" name="Text 7"/>
          <p:cNvSpPr txBox="1"/>
          <p:nvPr/>
        </p:nvSpPr>
        <p:spPr>
          <a:xfrm>
            <a:off x="960120" y="2962655"/>
            <a:ext cx="6126480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Uzupełnienie braków medianą liczoną osobno dla każdej klasy Outcome (fillna()).</a:t>
            </a:r>
          </a:p>
        </p:txBody>
      </p:sp>
      <p:sp>
        <p:nvSpPr>
          <p:cNvPr id="87" name="Text 8"/>
          <p:cNvSpPr txBox="1"/>
          <p:nvPr/>
        </p:nvSpPr>
        <p:spPr>
          <a:xfrm>
            <a:off x="640080" y="3665634"/>
            <a:ext cx="27432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808080"/>
                </a:solidFill>
              </a:defRPr>
            </a:lvl1pPr>
          </a:lstStyle>
          <a:p>
            <a:pPr/>
            <a:r>
              <a:t>-</a:t>
            </a:r>
          </a:p>
        </p:txBody>
      </p:sp>
      <p:sp>
        <p:nvSpPr>
          <p:cNvPr id="88" name="Text 9"/>
          <p:cNvSpPr txBox="1"/>
          <p:nvPr/>
        </p:nvSpPr>
        <p:spPr>
          <a:xfrm>
            <a:off x="960120" y="3529584"/>
            <a:ext cx="6126480" cy="37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Utworzenie AgeGroup i połączenie (merge()) z tabelą częstotliwości badań kontrolnych.</a:t>
            </a:r>
          </a:p>
        </p:txBody>
      </p:sp>
      <p:sp>
        <p:nvSpPr>
          <p:cNvPr id="89" name="Text 10"/>
          <p:cNvSpPr txBox="1"/>
          <p:nvPr/>
        </p:nvSpPr>
        <p:spPr>
          <a:xfrm>
            <a:off x="640080" y="4232562"/>
            <a:ext cx="27432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808080"/>
                </a:solidFill>
              </a:defRPr>
            </a:lvl1pPr>
          </a:lstStyle>
          <a:p>
            <a:pPr/>
            <a:r>
              <a:t>-</a:t>
            </a:r>
          </a:p>
        </p:txBody>
      </p:sp>
      <p:sp>
        <p:nvSpPr>
          <p:cNvPr id="90" name="Text 11"/>
          <p:cNvSpPr txBox="1"/>
          <p:nvPr/>
        </p:nvSpPr>
        <p:spPr>
          <a:xfrm>
            <a:off x="960120" y="4096511"/>
            <a:ext cx="6126480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Wynik: diabetes_clean.csv - 768 wierszy, 12 kolumn, 0 braków danych.</a:t>
            </a:r>
          </a:p>
        </p:txBody>
      </p:sp>
      <p:sp>
        <p:nvSpPr>
          <p:cNvPr id="91" name="Text 12"/>
          <p:cNvSpPr txBox="1"/>
          <p:nvPr/>
        </p:nvSpPr>
        <p:spPr>
          <a:xfrm>
            <a:off x="7315200" y="1879552"/>
            <a:ext cx="423367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/>
            </a:lvl1pPr>
          </a:lstStyle>
          <a:p>
            <a:pPr/>
            <a:r>
              <a:t>Braki danych wg kolumny (% rekordów)</a:t>
            </a:r>
          </a:p>
        </p:txBody>
      </p:sp>
      <p:pic>
        <p:nvPicPr>
          <p:cNvPr id="9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87768" y="2322576"/>
            <a:ext cx="4206241" cy="3776472"/>
          </a:xfrm>
          <a:prstGeom prst="rect">
            <a:avLst/>
          </a:prstGeom>
          <a:ln w="12700">
            <a:miter lim="400000"/>
          </a:ln>
        </p:spPr>
      </p:pic>
      <p:sp>
        <p:nvSpPr>
          <p:cNvPr id="93" name="Text 13"/>
          <p:cNvSpPr txBox="1"/>
          <p:nvPr/>
        </p:nvSpPr>
        <p:spPr>
          <a:xfrm>
            <a:off x="640080" y="6520180"/>
            <a:ext cx="7315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BFBFBF"/>
                </a:solidFill>
              </a:defRPr>
            </a:lvl1pPr>
          </a:lstStyle>
          <a:p>
            <a:pPr/>
            <a:r>
              <a:t>Analiza danych medycznych i predykcja cukrzycy</a:t>
            </a:r>
          </a:p>
        </p:txBody>
      </p:sp>
      <p:sp>
        <p:nvSpPr>
          <p:cNvPr id="94" name="Text 14"/>
          <p:cNvSpPr txBox="1"/>
          <p:nvPr/>
        </p:nvSpPr>
        <p:spPr>
          <a:xfrm>
            <a:off x="11000231" y="6520180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BFBFBF"/>
                </a:solidFill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0"/>
          <p:cNvSpPr txBox="1"/>
          <p:nvPr/>
        </p:nvSpPr>
        <p:spPr>
          <a:xfrm>
            <a:off x="640079" y="553672"/>
            <a:ext cx="1090879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808080"/>
                </a:solidFill>
              </a:defRPr>
            </a:lvl1pPr>
          </a:lstStyle>
          <a:p>
            <a:pPr/>
            <a:r>
              <a:t>FAZA 2 · IHOR KUBLYTSKYI</a:t>
            </a:r>
          </a:p>
        </p:txBody>
      </p:sp>
      <p:sp>
        <p:nvSpPr>
          <p:cNvPr id="97" name="Text 1"/>
          <p:cNvSpPr txBox="1"/>
          <p:nvPr/>
        </p:nvSpPr>
        <p:spPr>
          <a:xfrm>
            <a:off x="640079" y="979052"/>
            <a:ext cx="10908794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/>
            </a:lvl1pPr>
          </a:lstStyle>
          <a:p>
            <a:pPr/>
            <a:r>
              <a:t>Rozkład klas i profil pacjentek</a:t>
            </a:r>
          </a:p>
        </p:txBody>
      </p:sp>
      <p:sp>
        <p:nvSpPr>
          <p:cNvPr id="98" name="Text 2"/>
          <p:cNvSpPr txBox="1"/>
          <p:nvPr/>
        </p:nvSpPr>
        <p:spPr>
          <a:xfrm>
            <a:off x="640079" y="2144446"/>
            <a:ext cx="5120642" cy="923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Zmienna Outcome jest umiarkowanie niezbalansowana: 500 pacjentek (65,1%) bez cukrzycy oraz 268 pacjentek (34,9%) z cukrzycą. We wszystkich kluczowych cechach klinicznych pacjentki chore mają wyraźnie wyższe wartości średnie niż pacjentki zdrowe.</a:t>
            </a:r>
          </a:p>
        </p:txBody>
      </p:sp>
      <p:graphicFrame>
        <p:nvGraphicFramePr>
          <p:cNvPr id="99" name="Table 0"/>
          <p:cNvGraphicFramePr/>
          <p:nvPr/>
        </p:nvGraphicFramePr>
        <p:xfrm>
          <a:off x="640080" y="3657600"/>
          <a:ext cx="5120641" cy="18288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011679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Cecha</a:t>
                      </a:r>
                    </a:p>
                  </a:txBody>
                  <a:tcPr marL="50800" marR="50800" marT="50800" marB="5080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Średnia (0)</a:t>
                      </a:r>
                    </a:p>
                  </a:txBody>
                  <a:tcPr marL="50800" marR="50800" marT="50800" marB="5080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Średnia (1)</a:t>
                      </a:r>
                    </a:p>
                  </a:txBody>
                  <a:tcPr marL="50800" marR="50800" marT="50800" marB="5080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Glucose</a:t>
                      </a:r>
                    </a:p>
                  </a:txBody>
                  <a:tcPr marL="50800" marR="50800" marT="50800" marB="5080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110,6</a:t>
                      </a:r>
                    </a:p>
                  </a:txBody>
                  <a:tcPr marL="50800" marR="50800" marT="50800" marB="5080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142,3</a:t>
                      </a:r>
                    </a:p>
                  </a:txBody>
                  <a:tcPr marL="50800" marR="50800" marT="50800" marB="5080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Insulin</a:t>
                      </a:r>
                    </a:p>
                  </a:txBody>
                  <a:tcPr marL="50800" marR="50800" marT="50800" marB="5080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117,2</a:t>
                      </a:r>
                    </a:p>
                  </a:txBody>
                  <a:tcPr marL="50800" marR="50800" marT="50800" marB="5080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187,6</a:t>
                      </a:r>
                    </a:p>
                  </a:txBody>
                  <a:tcPr marL="50800" marR="50800" marT="50800" marB="5080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BMI</a:t>
                      </a:r>
                    </a:p>
                  </a:txBody>
                  <a:tcPr marL="50800" marR="50800" marT="50800" marB="5080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30,9</a:t>
                      </a:r>
                    </a:p>
                  </a:txBody>
                  <a:tcPr marL="50800" marR="50800" marT="50800" marB="5080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35,4</a:t>
                      </a:r>
                    </a:p>
                  </a:txBody>
                  <a:tcPr marL="50800" marR="50800" marT="50800" marB="5080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Age</a:t>
                      </a:r>
                    </a:p>
                  </a:txBody>
                  <a:tcPr marL="50800" marR="50800" marT="50800" marB="5080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31,2</a:t>
                      </a:r>
                    </a:p>
                  </a:txBody>
                  <a:tcPr marL="50800" marR="50800" marT="50800" marB="5080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37,1</a:t>
                      </a:r>
                    </a:p>
                  </a:txBody>
                  <a:tcPr marL="50800" marR="50800" marT="50800" marB="5080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10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86600" y="1828800"/>
            <a:ext cx="4206241" cy="4206241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Text 3"/>
          <p:cNvSpPr txBox="1"/>
          <p:nvPr/>
        </p:nvSpPr>
        <p:spPr>
          <a:xfrm>
            <a:off x="640080" y="6520180"/>
            <a:ext cx="7315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BFBFBF"/>
                </a:solidFill>
              </a:defRPr>
            </a:lvl1pPr>
          </a:lstStyle>
          <a:p>
            <a:pPr/>
            <a:r>
              <a:t>Analiza danych medycznych i predykcja cukrzycy</a:t>
            </a:r>
          </a:p>
        </p:txBody>
      </p:sp>
      <p:sp>
        <p:nvSpPr>
          <p:cNvPr id="102" name="Text 4"/>
          <p:cNvSpPr txBox="1"/>
          <p:nvPr/>
        </p:nvSpPr>
        <p:spPr>
          <a:xfrm>
            <a:off x="11000231" y="6520180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BFBFBF"/>
                </a:solidFill>
              </a:defRPr>
            </a:lvl1pPr>
          </a:lstStyle>
          <a:p>
            <a:pPr/>
            <a:r>
              <a:t>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 txBox="1"/>
          <p:nvPr/>
        </p:nvSpPr>
        <p:spPr>
          <a:xfrm>
            <a:off x="640079" y="553672"/>
            <a:ext cx="1090879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808080"/>
                </a:solidFill>
              </a:defRPr>
            </a:lvl1pPr>
          </a:lstStyle>
          <a:p>
            <a:pPr/>
            <a:r>
              <a:t>FAZA 2 · IHOR KUBLYTSKYI</a:t>
            </a:r>
          </a:p>
        </p:txBody>
      </p:sp>
      <p:sp>
        <p:nvSpPr>
          <p:cNvPr id="105" name="Text 1"/>
          <p:cNvSpPr txBox="1"/>
          <p:nvPr/>
        </p:nvSpPr>
        <p:spPr>
          <a:xfrm>
            <a:off x="640079" y="979052"/>
            <a:ext cx="10908794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/>
            </a:lvl1pPr>
          </a:lstStyle>
          <a:p>
            <a:pPr/>
            <a:r>
              <a:t>Najsilniejsze zależności z cukrzycą</a:t>
            </a:r>
          </a:p>
        </p:txBody>
      </p:sp>
      <p:sp>
        <p:nvSpPr>
          <p:cNvPr id="106" name="Text 2"/>
          <p:cNvSpPr txBox="1"/>
          <p:nvPr/>
        </p:nvSpPr>
        <p:spPr>
          <a:xfrm>
            <a:off x="640079" y="1873410"/>
            <a:ext cx="10908794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Korelacja Pearsona (corr()) poszczególnych cech ze zmienną Outcome - najsilniejszy związek wykazują Glucose, Insulin i BMI.</a:t>
            </a:r>
          </a:p>
        </p:txBody>
      </p:sp>
      <p:pic>
        <p:nvPicPr>
          <p:cNvPr id="10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0080" y="2331720"/>
            <a:ext cx="10908793" cy="3849625"/>
          </a:xfrm>
          <a:prstGeom prst="rect">
            <a:avLst/>
          </a:prstGeom>
          <a:ln w="12700">
            <a:miter lim="400000"/>
          </a:ln>
        </p:spPr>
      </p:pic>
      <p:sp>
        <p:nvSpPr>
          <p:cNvPr id="108" name="Text 3"/>
          <p:cNvSpPr txBox="1"/>
          <p:nvPr/>
        </p:nvSpPr>
        <p:spPr>
          <a:xfrm>
            <a:off x="640080" y="6520180"/>
            <a:ext cx="7315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BFBFBF"/>
                </a:solidFill>
              </a:defRPr>
            </a:lvl1pPr>
          </a:lstStyle>
          <a:p>
            <a:pPr/>
            <a:r>
              <a:t>Analiza danych medycznych i predykcja cukrzycy</a:t>
            </a:r>
          </a:p>
        </p:txBody>
      </p:sp>
      <p:sp>
        <p:nvSpPr>
          <p:cNvPr id="109" name="Text 4"/>
          <p:cNvSpPr txBox="1"/>
          <p:nvPr/>
        </p:nvSpPr>
        <p:spPr>
          <a:xfrm>
            <a:off x="11000231" y="6520180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BFBFBF"/>
                </a:solidFill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 txBox="1"/>
          <p:nvPr/>
        </p:nvSpPr>
        <p:spPr>
          <a:xfrm>
            <a:off x="640079" y="553672"/>
            <a:ext cx="1090879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808080"/>
                </a:solidFill>
              </a:defRPr>
            </a:lvl1pPr>
          </a:lstStyle>
          <a:p>
            <a:pPr/>
            <a:r>
              <a:t>FAZA 3 · KATSIARYNA KOZHYCH</a:t>
            </a:r>
          </a:p>
        </p:txBody>
      </p:sp>
      <p:sp>
        <p:nvSpPr>
          <p:cNvPr id="112" name="Text 1"/>
          <p:cNvSpPr txBox="1"/>
          <p:nvPr/>
        </p:nvSpPr>
        <p:spPr>
          <a:xfrm>
            <a:off x="640079" y="979052"/>
            <a:ext cx="10908794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/>
            </a:lvl1pPr>
          </a:lstStyle>
          <a:p>
            <a:pPr/>
            <a:r>
              <a:t>Model predykcyjny - metodologia</a:t>
            </a:r>
          </a:p>
        </p:txBody>
      </p:sp>
      <p:sp>
        <p:nvSpPr>
          <p:cNvPr id="113" name="Text 2"/>
          <p:cNvSpPr txBox="1"/>
          <p:nvPr/>
        </p:nvSpPr>
        <p:spPr>
          <a:xfrm>
            <a:off x="640079" y="2134336"/>
            <a:ext cx="822962" cy="394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BFBFBF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14" name="Text 3"/>
          <p:cNvSpPr txBox="1"/>
          <p:nvPr/>
        </p:nvSpPr>
        <p:spPr>
          <a:xfrm>
            <a:off x="1554479" y="2062294"/>
            <a:ext cx="3291842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/>
            </a:lvl1pPr>
          </a:lstStyle>
          <a:p>
            <a:pPr/>
            <a:r>
              <a:t>Podział danych</a:t>
            </a:r>
          </a:p>
        </p:txBody>
      </p:sp>
      <p:sp>
        <p:nvSpPr>
          <p:cNvPr id="115" name="Text 4"/>
          <p:cNvSpPr txBox="1"/>
          <p:nvPr/>
        </p:nvSpPr>
        <p:spPr>
          <a:xfrm>
            <a:off x="1554480" y="2542492"/>
            <a:ext cx="667511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333333"/>
                </a:solidFill>
              </a:defRPr>
            </a:lvl1pPr>
          </a:lstStyle>
          <a:p>
            <a:pPr/>
            <a:r>
              <a:t>80/20, stratyfikacja względem Outcome</a:t>
            </a:r>
          </a:p>
        </p:txBody>
      </p:sp>
      <p:sp>
        <p:nvSpPr>
          <p:cNvPr id="116" name="Shape 5"/>
          <p:cNvSpPr/>
          <p:nvPr/>
        </p:nvSpPr>
        <p:spPr>
          <a:xfrm>
            <a:off x="1042416" y="2743199"/>
            <a:ext cx="1" cy="274322"/>
          </a:xfrm>
          <a:prstGeom prst="line">
            <a:avLst/>
          </a:prstGeom>
          <a:ln w="12700">
            <a:solidFill>
              <a:srgbClr val="BFBFB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Text 6"/>
          <p:cNvSpPr txBox="1"/>
          <p:nvPr/>
        </p:nvSpPr>
        <p:spPr>
          <a:xfrm>
            <a:off x="640079" y="3231616"/>
            <a:ext cx="822962" cy="394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BFBFBF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18" name="Text 7"/>
          <p:cNvSpPr txBox="1"/>
          <p:nvPr/>
        </p:nvSpPr>
        <p:spPr>
          <a:xfrm>
            <a:off x="1554479" y="3159574"/>
            <a:ext cx="3291842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/>
            </a:lvl1pPr>
          </a:lstStyle>
          <a:p>
            <a:pPr/>
            <a:r>
              <a:t>Standaryzacja</a:t>
            </a:r>
          </a:p>
        </p:txBody>
      </p:sp>
      <p:sp>
        <p:nvSpPr>
          <p:cNvPr id="119" name="Text 8"/>
          <p:cNvSpPr txBox="1"/>
          <p:nvPr/>
        </p:nvSpPr>
        <p:spPr>
          <a:xfrm>
            <a:off x="1554480" y="3639772"/>
            <a:ext cx="667511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333333"/>
                </a:solidFill>
              </a:defRPr>
            </a:lvl1pPr>
          </a:lstStyle>
          <a:p>
            <a:pPr/>
            <a:r>
              <a:t>StandardScaler dopasowany wyłącznie na zbiorze treningowym</a:t>
            </a:r>
          </a:p>
        </p:txBody>
      </p:sp>
      <p:sp>
        <p:nvSpPr>
          <p:cNvPr id="120" name="Shape 9"/>
          <p:cNvSpPr/>
          <p:nvPr/>
        </p:nvSpPr>
        <p:spPr>
          <a:xfrm>
            <a:off x="1042416" y="3840479"/>
            <a:ext cx="1" cy="274321"/>
          </a:xfrm>
          <a:prstGeom prst="line">
            <a:avLst/>
          </a:prstGeom>
          <a:ln w="12700">
            <a:solidFill>
              <a:srgbClr val="BFBFB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Text 10"/>
          <p:cNvSpPr txBox="1"/>
          <p:nvPr/>
        </p:nvSpPr>
        <p:spPr>
          <a:xfrm>
            <a:off x="640079" y="4328896"/>
            <a:ext cx="822962" cy="394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BFBFBF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22" name="Text 11"/>
          <p:cNvSpPr txBox="1"/>
          <p:nvPr/>
        </p:nvSpPr>
        <p:spPr>
          <a:xfrm>
            <a:off x="1554479" y="4256854"/>
            <a:ext cx="3291842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/>
            </a:lvl1pPr>
          </a:lstStyle>
          <a:p>
            <a:pPr/>
            <a:r>
              <a:t>Model bazowy</a:t>
            </a:r>
          </a:p>
        </p:txBody>
      </p:sp>
      <p:sp>
        <p:nvSpPr>
          <p:cNvPr id="123" name="Text 12"/>
          <p:cNvSpPr txBox="1"/>
          <p:nvPr/>
        </p:nvSpPr>
        <p:spPr>
          <a:xfrm>
            <a:off x="1554480" y="4737052"/>
            <a:ext cx="667511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333333"/>
                </a:solidFill>
              </a:defRPr>
            </a:lvl1pPr>
          </a:lstStyle>
          <a:p>
            <a:pPr/>
            <a:r>
              <a:t>Regresja logistyczna (interpretowalna, klasyfikacja binarna)</a:t>
            </a:r>
          </a:p>
        </p:txBody>
      </p:sp>
      <p:sp>
        <p:nvSpPr>
          <p:cNvPr id="124" name="Shape 13"/>
          <p:cNvSpPr/>
          <p:nvPr/>
        </p:nvSpPr>
        <p:spPr>
          <a:xfrm>
            <a:off x="1042416" y="4937759"/>
            <a:ext cx="1" cy="274321"/>
          </a:xfrm>
          <a:prstGeom prst="line">
            <a:avLst/>
          </a:prstGeom>
          <a:ln w="12700">
            <a:solidFill>
              <a:srgbClr val="BFBFB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Text 14"/>
          <p:cNvSpPr txBox="1"/>
          <p:nvPr/>
        </p:nvSpPr>
        <p:spPr>
          <a:xfrm>
            <a:off x="640079" y="5426176"/>
            <a:ext cx="822962" cy="394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BFBFBF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26" name="Text 15"/>
          <p:cNvSpPr txBox="1"/>
          <p:nvPr/>
        </p:nvSpPr>
        <p:spPr>
          <a:xfrm>
            <a:off x="1554479" y="5354134"/>
            <a:ext cx="3291842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/>
            </a:lvl1pPr>
          </a:lstStyle>
          <a:p>
            <a:pPr/>
            <a:r>
              <a:t>Walidacja</a:t>
            </a:r>
          </a:p>
        </p:txBody>
      </p:sp>
      <p:sp>
        <p:nvSpPr>
          <p:cNvPr id="127" name="Text 16"/>
          <p:cNvSpPr txBox="1"/>
          <p:nvPr/>
        </p:nvSpPr>
        <p:spPr>
          <a:xfrm>
            <a:off x="1554480" y="5834332"/>
            <a:ext cx="667511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333333"/>
                </a:solidFill>
              </a:defRPr>
            </a:lvl1pPr>
          </a:lstStyle>
          <a:p>
            <a:pPr/>
            <a:r>
              <a:t>5-krotna walidacja krzyżowa (StratifiedKFold) na zbiorze treningowym</a:t>
            </a:r>
          </a:p>
        </p:txBody>
      </p:sp>
      <p:sp>
        <p:nvSpPr>
          <p:cNvPr id="128" name="Shape 17"/>
          <p:cNvSpPr/>
          <p:nvPr/>
        </p:nvSpPr>
        <p:spPr>
          <a:xfrm>
            <a:off x="8778240" y="1920239"/>
            <a:ext cx="2770633" cy="4206242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Text 18"/>
          <p:cNvSpPr txBox="1"/>
          <p:nvPr/>
        </p:nvSpPr>
        <p:spPr>
          <a:xfrm>
            <a:off x="9006840" y="2199592"/>
            <a:ext cx="2313433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/>
            </a:lvl1pPr>
          </a:lstStyle>
          <a:p>
            <a:pPr/>
            <a:r>
              <a:t>Cechy wejściowe</a:t>
            </a:r>
          </a:p>
        </p:txBody>
      </p:sp>
      <p:sp>
        <p:nvSpPr>
          <p:cNvPr id="130" name="Text 19"/>
          <p:cNvSpPr txBox="1"/>
          <p:nvPr/>
        </p:nvSpPr>
        <p:spPr>
          <a:xfrm>
            <a:off x="9006840" y="2606039"/>
            <a:ext cx="2313433" cy="1091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1000"/>
              </a:spcBef>
              <a:defRPr sz="1100">
                <a:solidFill>
                  <a:srgbClr val="333333"/>
                </a:solidFill>
              </a:defRPr>
            </a:pPr>
            <a:r>
              <a:t>8 cech klinicznych.</a:t>
            </a:r>
          </a:p>
          <a:p>
            <a:pPr>
              <a:lnSpc>
                <a:spcPct val="135000"/>
              </a:lnSpc>
              <a:spcBef>
                <a:spcPts val="1000"/>
              </a:spcBef>
              <a:defRPr sz="1100">
                <a:solidFill>
                  <a:srgbClr val="333333"/>
                </a:solidFill>
              </a:defRPr>
            </a:pPr>
            <a:r>
              <a:t>Pominięto PatientID, AgeGroup i CheckupFrequency - to identyfikator i zmienne wyprowadzone wprost z Age.</a:t>
            </a:r>
          </a:p>
        </p:txBody>
      </p:sp>
      <p:sp>
        <p:nvSpPr>
          <p:cNvPr id="131" name="Text 20"/>
          <p:cNvSpPr txBox="1"/>
          <p:nvPr/>
        </p:nvSpPr>
        <p:spPr>
          <a:xfrm>
            <a:off x="640080" y="6520180"/>
            <a:ext cx="7315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BFBFBF"/>
                </a:solidFill>
              </a:defRPr>
            </a:lvl1pPr>
          </a:lstStyle>
          <a:p>
            <a:pPr/>
            <a:r>
              <a:t>Analiza danych medycznych i predykcja cukrzycy</a:t>
            </a:r>
          </a:p>
        </p:txBody>
      </p:sp>
      <p:sp>
        <p:nvSpPr>
          <p:cNvPr id="132" name="Text 21"/>
          <p:cNvSpPr txBox="1"/>
          <p:nvPr/>
        </p:nvSpPr>
        <p:spPr>
          <a:xfrm>
            <a:off x="11000231" y="6520180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BFBFBF"/>
                </a:solidFill>
              </a:defRPr>
            </a:lvl1pPr>
          </a:lstStyle>
          <a:p>
            <a:pPr/>
            <a:r>
              <a:t>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0"/>
          <p:cNvSpPr txBox="1"/>
          <p:nvPr/>
        </p:nvSpPr>
        <p:spPr>
          <a:xfrm>
            <a:off x="640079" y="553672"/>
            <a:ext cx="1090879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808080"/>
                </a:solidFill>
              </a:defRPr>
            </a:lvl1pPr>
          </a:lstStyle>
          <a:p>
            <a:pPr/>
            <a:r>
              <a:t>FAZA 3 · WYNIKI</a:t>
            </a:r>
          </a:p>
        </p:txBody>
      </p:sp>
      <p:sp>
        <p:nvSpPr>
          <p:cNvPr id="135" name="Text 1"/>
          <p:cNvSpPr txBox="1"/>
          <p:nvPr/>
        </p:nvSpPr>
        <p:spPr>
          <a:xfrm>
            <a:off x="640079" y="979052"/>
            <a:ext cx="10908794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/>
            </a:lvl1pPr>
          </a:lstStyle>
          <a:p>
            <a:pPr/>
            <a:r>
              <a:t>Wyniki na zbiorze testowym</a:t>
            </a:r>
          </a:p>
        </p:txBody>
      </p:sp>
      <p:sp>
        <p:nvSpPr>
          <p:cNvPr id="136" name="Shape 2"/>
          <p:cNvSpPr/>
          <p:nvPr/>
        </p:nvSpPr>
        <p:spPr>
          <a:xfrm>
            <a:off x="640079" y="1920239"/>
            <a:ext cx="1965962" cy="160020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Text 3"/>
          <p:cNvSpPr txBox="1"/>
          <p:nvPr/>
        </p:nvSpPr>
        <p:spPr>
          <a:xfrm>
            <a:off x="640079" y="2323151"/>
            <a:ext cx="1965962" cy="382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600"/>
            </a:lvl1pPr>
          </a:lstStyle>
          <a:p>
            <a:pPr/>
            <a:r>
              <a:t>70,8%</a:t>
            </a:r>
          </a:p>
        </p:txBody>
      </p:sp>
      <p:sp>
        <p:nvSpPr>
          <p:cNvPr id="138" name="Text 4"/>
          <p:cNvSpPr txBox="1"/>
          <p:nvPr/>
        </p:nvSpPr>
        <p:spPr>
          <a:xfrm>
            <a:off x="640079" y="3035045"/>
            <a:ext cx="1965962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808080"/>
                </a:solidFill>
              </a:defRPr>
            </a:lvl1pPr>
          </a:lstStyle>
          <a:p>
            <a:pPr/>
            <a:r>
              <a:t>Accuracy</a:t>
            </a:r>
          </a:p>
        </p:txBody>
      </p:sp>
      <p:sp>
        <p:nvSpPr>
          <p:cNvPr id="139" name="Shape 5"/>
          <p:cNvSpPr/>
          <p:nvPr/>
        </p:nvSpPr>
        <p:spPr>
          <a:xfrm>
            <a:off x="2807207" y="1920239"/>
            <a:ext cx="1965961" cy="160020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Text 6"/>
          <p:cNvSpPr txBox="1"/>
          <p:nvPr/>
        </p:nvSpPr>
        <p:spPr>
          <a:xfrm>
            <a:off x="2807207" y="2323151"/>
            <a:ext cx="1965961" cy="382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600"/>
            </a:lvl1pPr>
          </a:lstStyle>
          <a:p>
            <a:pPr/>
            <a:r>
              <a:t>58,8%</a:t>
            </a:r>
          </a:p>
        </p:txBody>
      </p:sp>
      <p:sp>
        <p:nvSpPr>
          <p:cNvPr id="141" name="Text 7"/>
          <p:cNvSpPr txBox="1"/>
          <p:nvPr/>
        </p:nvSpPr>
        <p:spPr>
          <a:xfrm>
            <a:off x="2807207" y="3035045"/>
            <a:ext cx="196596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808080"/>
                </a:solidFill>
              </a:defRPr>
            </a:lvl1pPr>
          </a:lstStyle>
          <a:p>
            <a:pPr/>
            <a:r>
              <a:t>Precision</a:t>
            </a:r>
          </a:p>
        </p:txBody>
      </p:sp>
      <p:sp>
        <p:nvSpPr>
          <p:cNvPr id="142" name="Shape 8"/>
          <p:cNvSpPr/>
          <p:nvPr/>
        </p:nvSpPr>
        <p:spPr>
          <a:xfrm>
            <a:off x="4974335" y="1920239"/>
            <a:ext cx="1965961" cy="160020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Text 9"/>
          <p:cNvSpPr txBox="1"/>
          <p:nvPr/>
        </p:nvSpPr>
        <p:spPr>
          <a:xfrm>
            <a:off x="4974335" y="2323151"/>
            <a:ext cx="1965961" cy="382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600"/>
            </a:lvl1pPr>
          </a:lstStyle>
          <a:p>
            <a:pPr/>
            <a:r>
              <a:t>55,6%</a:t>
            </a:r>
          </a:p>
        </p:txBody>
      </p:sp>
      <p:sp>
        <p:nvSpPr>
          <p:cNvPr id="144" name="Text 10"/>
          <p:cNvSpPr txBox="1"/>
          <p:nvPr/>
        </p:nvSpPr>
        <p:spPr>
          <a:xfrm>
            <a:off x="4974335" y="3035045"/>
            <a:ext cx="196596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808080"/>
                </a:solidFill>
              </a:defRPr>
            </a:lvl1pPr>
          </a:lstStyle>
          <a:p>
            <a:pPr/>
            <a:r>
              <a:t>Recall</a:t>
            </a:r>
          </a:p>
        </p:txBody>
      </p:sp>
      <p:sp>
        <p:nvSpPr>
          <p:cNvPr id="145" name="Shape 11"/>
          <p:cNvSpPr/>
          <p:nvPr/>
        </p:nvSpPr>
        <p:spPr>
          <a:xfrm>
            <a:off x="7141464" y="1920239"/>
            <a:ext cx="1965961" cy="160020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Text 12"/>
          <p:cNvSpPr txBox="1"/>
          <p:nvPr/>
        </p:nvSpPr>
        <p:spPr>
          <a:xfrm>
            <a:off x="7141464" y="2323151"/>
            <a:ext cx="1965961" cy="382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600"/>
            </a:lvl1pPr>
          </a:lstStyle>
          <a:p>
            <a:pPr/>
            <a:r>
              <a:t>57,1%</a:t>
            </a:r>
          </a:p>
        </p:txBody>
      </p:sp>
      <p:sp>
        <p:nvSpPr>
          <p:cNvPr id="147" name="Text 13"/>
          <p:cNvSpPr txBox="1"/>
          <p:nvPr/>
        </p:nvSpPr>
        <p:spPr>
          <a:xfrm>
            <a:off x="7141464" y="3035045"/>
            <a:ext cx="196596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808080"/>
                </a:solidFill>
              </a:defRPr>
            </a:lvl1pPr>
          </a:lstStyle>
          <a:p>
            <a:pPr/>
            <a:r>
              <a:t>F1-score</a:t>
            </a:r>
          </a:p>
        </p:txBody>
      </p:sp>
      <p:sp>
        <p:nvSpPr>
          <p:cNvPr id="148" name="Shape 14"/>
          <p:cNvSpPr/>
          <p:nvPr/>
        </p:nvSpPr>
        <p:spPr>
          <a:xfrm>
            <a:off x="9308592" y="1920239"/>
            <a:ext cx="1965961" cy="16002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Text 15"/>
          <p:cNvSpPr txBox="1"/>
          <p:nvPr/>
        </p:nvSpPr>
        <p:spPr>
          <a:xfrm>
            <a:off x="9308592" y="2323151"/>
            <a:ext cx="1965961" cy="382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82,6%</a:t>
            </a:r>
          </a:p>
        </p:txBody>
      </p:sp>
      <p:sp>
        <p:nvSpPr>
          <p:cNvPr id="150" name="Text 16"/>
          <p:cNvSpPr txBox="1"/>
          <p:nvPr/>
        </p:nvSpPr>
        <p:spPr>
          <a:xfrm>
            <a:off x="9308592" y="3035045"/>
            <a:ext cx="196596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BFBFBF"/>
                </a:solidFill>
              </a:defRPr>
            </a:lvl1pPr>
          </a:lstStyle>
          <a:p>
            <a:pPr/>
            <a:r>
              <a:t>ROC-AUC</a:t>
            </a:r>
          </a:p>
        </p:txBody>
      </p:sp>
      <p:sp>
        <p:nvSpPr>
          <p:cNvPr id="151" name="Text 17"/>
          <p:cNvSpPr txBox="1"/>
          <p:nvPr/>
        </p:nvSpPr>
        <p:spPr>
          <a:xfrm>
            <a:off x="640079" y="4141980"/>
            <a:ext cx="6309362" cy="677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W kontekście medycznym kluczowa jest czułość (recall) - model w obecnej postaci nie wykrywa ok. 44% przypadków cukrzycy, co wymagałoby dalszej pracy (np. ważenia klas) przed zastosowaniem klinicznym.</a:t>
            </a:r>
          </a:p>
        </p:txBody>
      </p:sp>
      <p:sp>
        <p:nvSpPr>
          <p:cNvPr id="152" name="Text 18"/>
          <p:cNvSpPr txBox="1"/>
          <p:nvPr/>
        </p:nvSpPr>
        <p:spPr>
          <a:xfrm>
            <a:off x="7406640" y="3982672"/>
            <a:ext cx="3657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/>
            </a:lvl1pPr>
          </a:lstStyle>
          <a:p>
            <a:pPr/>
            <a:r>
              <a:t>Macierz pomyłek</a:t>
            </a:r>
          </a:p>
        </p:txBody>
      </p:sp>
      <p:graphicFrame>
        <p:nvGraphicFramePr>
          <p:cNvPr id="153" name="Table 0"/>
          <p:cNvGraphicFramePr/>
          <p:nvPr/>
        </p:nvGraphicFramePr>
        <p:xfrm>
          <a:off x="7406640" y="4343400"/>
          <a:ext cx="3840481" cy="146304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280160"/>
                <a:gridCol w="1280160"/>
                <a:gridCol w="1280160"/>
              </a:tblGrid>
              <a:tr h="4876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Pred.: 0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Pred.: 1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Rzecz.: 0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79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21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Rzecz.: 1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24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30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4" name="Text 19"/>
          <p:cNvSpPr txBox="1"/>
          <p:nvPr/>
        </p:nvSpPr>
        <p:spPr>
          <a:xfrm>
            <a:off x="640079" y="5674313"/>
            <a:ext cx="1090879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808080"/>
                </a:solidFill>
              </a:defRPr>
            </a:lvl1pPr>
          </a:lstStyle>
          <a:p>
            <a:pPr/>
            <a:r>
              <a:t>5-krotna walidacja krzyżowa: średnie ROC-AUC = 87,2% (± 1,7%)</a:t>
            </a:r>
          </a:p>
        </p:txBody>
      </p:sp>
      <p:sp>
        <p:nvSpPr>
          <p:cNvPr id="155" name="Text 20"/>
          <p:cNvSpPr txBox="1"/>
          <p:nvPr/>
        </p:nvSpPr>
        <p:spPr>
          <a:xfrm>
            <a:off x="640080" y="6520180"/>
            <a:ext cx="7315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BFBFBF"/>
                </a:solidFill>
              </a:defRPr>
            </a:lvl1pPr>
          </a:lstStyle>
          <a:p>
            <a:pPr/>
            <a:r>
              <a:t>Analiza danych medycznych i predykcja cukrzycy</a:t>
            </a:r>
          </a:p>
        </p:txBody>
      </p:sp>
      <p:sp>
        <p:nvSpPr>
          <p:cNvPr id="156" name="Text 21"/>
          <p:cNvSpPr txBox="1"/>
          <p:nvPr/>
        </p:nvSpPr>
        <p:spPr>
          <a:xfrm>
            <a:off x="11000231" y="6520180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BFBFBF"/>
                </a:solidFill>
              </a:defRPr>
            </a:lvl1pPr>
          </a:lstStyle>
          <a:p>
            <a:pPr/>
            <a:r>
              <a:t>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0"/>
          <p:cNvSpPr txBox="1"/>
          <p:nvPr/>
        </p:nvSpPr>
        <p:spPr>
          <a:xfrm>
            <a:off x="640079" y="553672"/>
            <a:ext cx="1090879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808080"/>
                </a:solidFill>
              </a:defRPr>
            </a:lvl1pPr>
          </a:lstStyle>
          <a:p>
            <a:pPr/>
            <a:r>
              <a:t>FAZA 3 · INTERPRETACJA</a:t>
            </a:r>
          </a:p>
        </p:txBody>
      </p:sp>
      <p:sp>
        <p:nvSpPr>
          <p:cNvPr id="159" name="Text 1"/>
          <p:cNvSpPr txBox="1"/>
          <p:nvPr/>
        </p:nvSpPr>
        <p:spPr>
          <a:xfrm>
            <a:off x="640079" y="979052"/>
            <a:ext cx="10908794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/>
            </a:lvl1pPr>
          </a:lstStyle>
          <a:p>
            <a:pPr/>
            <a:r>
              <a:t>Które cechy liczą się najbardziej</a:t>
            </a:r>
          </a:p>
        </p:txBody>
      </p:sp>
      <p:sp>
        <p:nvSpPr>
          <p:cNvPr id="160" name="Text 2"/>
          <p:cNvSpPr txBox="1"/>
          <p:nvPr/>
        </p:nvSpPr>
        <p:spPr>
          <a:xfrm>
            <a:off x="640079" y="1800743"/>
            <a:ext cx="10908794" cy="421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Współczynniki regresji logistycznej (cechy ustandaryzowane) - im wyższy, tym większy wpływ na przewidywane ryzyko cukrzycy. Ranking pokrywa się z korelacjami z fazy EDA, co potwierdza spójność analizy.</a:t>
            </a:r>
          </a:p>
        </p:txBody>
      </p:sp>
      <p:pic>
        <p:nvPicPr>
          <p:cNvPr id="16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0080" y="2468879"/>
            <a:ext cx="10908793" cy="3666745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Text 3"/>
          <p:cNvSpPr txBox="1"/>
          <p:nvPr/>
        </p:nvSpPr>
        <p:spPr>
          <a:xfrm>
            <a:off x="640080" y="6520180"/>
            <a:ext cx="7315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BFBFBF"/>
                </a:solidFill>
              </a:defRPr>
            </a:lvl1pPr>
          </a:lstStyle>
          <a:p>
            <a:pPr/>
            <a:r>
              <a:t>Analiza danych medycznych i predykcja cukrzycy</a:t>
            </a:r>
          </a:p>
        </p:txBody>
      </p:sp>
      <p:sp>
        <p:nvSpPr>
          <p:cNvPr id="163" name="Text 4"/>
          <p:cNvSpPr txBox="1"/>
          <p:nvPr/>
        </p:nvSpPr>
        <p:spPr>
          <a:xfrm>
            <a:off x="11000231" y="6520180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BFBFBF"/>
                </a:solidFill>
              </a:defRPr>
            </a:lvl1pPr>
          </a:lstStyle>
          <a:p>
            <a:pPr/>
            <a: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 txBox="1"/>
          <p:nvPr/>
        </p:nvSpPr>
        <p:spPr>
          <a:xfrm>
            <a:off x="640079" y="553672"/>
            <a:ext cx="1090879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808080"/>
                </a:solidFill>
              </a:defRPr>
            </a:lvl1pPr>
          </a:lstStyle>
          <a:p>
            <a:pPr/>
            <a:r>
              <a:t>PODSUMOWANIE</a:t>
            </a:r>
          </a:p>
        </p:txBody>
      </p:sp>
      <p:sp>
        <p:nvSpPr>
          <p:cNvPr id="166" name="Text 1"/>
          <p:cNvSpPr txBox="1"/>
          <p:nvPr/>
        </p:nvSpPr>
        <p:spPr>
          <a:xfrm>
            <a:off x="640079" y="979052"/>
            <a:ext cx="10908794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/>
            </a:lvl1pPr>
          </a:lstStyle>
          <a:p>
            <a:pPr/>
            <a:r>
              <a:t>Wnioski i ograniczenia</a:t>
            </a:r>
          </a:p>
        </p:txBody>
      </p:sp>
      <p:sp>
        <p:nvSpPr>
          <p:cNvPr id="167" name="Shape 2"/>
          <p:cNvSpPr/>
          <p:nvPr/>
        </p:nvSpPr>
        <p:spPr>
          <a:xfrm>
            <a:off x="640080" y="1965960"/>
            <a:ext cx="5212080" cy="118872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Text 3"/>
          <p:cNvSpPr txBox="1"/>
          <p:nvPr/>
        </p:nvSpPr>
        <p:spPr>
          <a:xfrm>
            <a:off x="914399" y="2367731"/>
            <a:ext cx="4663442" cy="385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/>
            </a:lvl1pPr>
          </a:lstStyle>
          <a:p>
            <a:pPr/>
            <a:r>
              <a:t>Glucose, Insulin i BMI to najsilniejsze predyktory cukrzycy - spójnie w EDA i w modelu.</a:t>
            </a:r>
          </a:p>
        </p:txBody>
      </p:sp>
      <p:sp>
        <p:nvSpPr>
          <p:cNvPr id="169" name="Shape 4"/>
          <p:cNvSpPr/>
          <p:nvPr/>
        </p:nvSpPr>
        <p:spPr>
          <a:xfrm>
            <a:off x="640080" y="3337559"/>
            <a:ext cx="5212080" cy="118872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Text 5"/>
          <p:cNvSpPr txBox="1"/>
          <p:nvPr/>
        </p:nvSpPr>
        <p:spPr>
          <a:xfrm>
            <a:off x="914399" y="3845512"/>
            <a:ext cx="466344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/>
            </a:lvl1pPr>
          </a:lstStyle>
          <a:p>
            <a:pPr/>
            <a:r>
              <a:t>ROC-AUC 0,826-0,872 - model dobrze rozróżnia klasy.</a:t>
            </a:r>
          </a:p>
        </p:txBody>
      </p:sp>
      <p:sp>
        <p:nvSpPr>
          <p:cNvPr id="171" name="Shape 6"/>
          <p:cNvSpPr/>
          <p:nvPr/>
        </p:nvSpPr>
        <p:spPr>
          <a:xfrm>
            <a:off x="640080" y="4709159"/>
            <a:ext cx="5212080" cy="118872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Text 7"/>
          <p:cNvSpPr txBox="1"/>
          <p:nvPr/>
        </p:nvSpPr>
        <p:spPr>
          <a:xfrm>
            <a:off x="914399" y="5110931"/>
            <a:ext cx="4663442" cy="385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/>
            </a:lvl1pPr>
          </a:lstStyle>
          <a:p>
            <a:pPr/>
            <a:r>
              <a:t>Recall na poziomie 0,556 jest umiarkowany - istotne ograniczenie w zastosowaniu medycznym.</a:t>
            </a:r>
          </a:p>
        </p:txBody>
      </p:sp>
      <p:sp>
        <p:nvSpPr>
          <p:cNvPr id="173" name="Shape 8"/>
          <p:cNvSpPr/>
          <p:nvPr/>
        </p:nvSpPr>
        <p:spPr>
          <a:xfrm>
            <a:off x="6309359" y="1965960"/>
            <a:ext cx="5212081" cy="118872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Text 9"/>
          <p:cNvSpPr txBox="1"/>
          <p:nvPr/>
        </p:nvSpPr>
        <p:spPr>
          <a:xfrm>
            <a:off x="6583680" y="2473912"/>
            <a:ext cx="466344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/>
            </a:lvl1pPr>
          </a:lstStyle>
          <a:p>
            <a:pPr/>
            <a:r>
              <a:t>Zbiór jest umiarkowanie niezbalansowany (65% / 35%).</a:t>
            </a:r>
          </a:p>
        </p:txBody>
      </p:sp>
      <p:sp>
        <p:nvSpPr>
          <p:cNvPr id="175" name="Shape 10"/>
          <p:cNvSpPr/>
          <p:nvPr/>
        </p:nvSpPr>
        <p:spPr>
          <a:xfrm>
            <a:off x="6309359" y="3337559"/>
            <a:ext cx="5212081" cy="118872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Text 11"/>
          <p:cNvSpPr txBox="1"/>
          <p:nvPr/>
        </p:nvSpPr>
        <p:spPr>
          <a:xfrm>
            <a:off x="6583680" y="3739331"/>
            <a:ext cx="4663441" cy="385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/>
            </a:lvl1pPr>
          </a:lstStyle>
          <a:p>
            <a:pPr/>
            <a:r>
              <a:t>Imputacja medianą per klasa wykonana przed podziałem train/test - niewielki wyciek informacji.</a:t>
            </a:r>
          </a:p>
        </p:txBody>
      </p:sp>
      <p:sp>
        <p:nvSpPr>
          <p:cNvPr id="177" name="Shape 12"/>
          <p:cNvSpPr/>
          <p:nvPr/>
        </p:nvSpPr>
        <p:spPr>
          <a:xfrm>
            <a:off x="6309359" y="4709159"/>
            <a:ext cx="5212081" cy="118872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Text 13"/>
          <p:cNvSpPr txBox="1"/>
          <p:nvPr/>
        </p:nvSpPr>
        <p:spPr>
          <a:xfrm>
            <a:off x="6583680" y="5110931"/>
            <a:ext cx="4663441" cy="385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/>
            </a:lvl1pPr>
          </a:lstStyle>
          <a:p>
            <a:pPr/>
            <a:r>
              <a:t>Insulin miał 48,7% braków danych - ogranicza to wiarygodność tej zmiennej.</a:t>
            </a:r>
          </a:p>
        </p:txBody>
      </p:sp>
      <p:sp>
        <p:nvSpPr>
          <p:cNvPr id="179" name="Text 14"/>
          <p:cNvSpPr txBox="1"/>
          <p:nvPr/>
        </p:nvSpPr>
        <p:spPr>
          <a:xfrm>
            <a:off x="640080" y="6520180"/>
            <a:ext cx="7315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BFBFBF"/>
                </a:solidFill>
              </a:defRPr>
            </a:lvl1pPr>
          </a:lstStyle>
          <a:p>
            <a:pPr/>
            <a:r>
              <a:t>Analiza danych medycznych i predykcja cukrzycy</a:t>
            </a:r>
          </a:p>
        </p:txBody>
      </p:sp>
      <p:sp>
        <p:nvSpPr>
          <p:cNvPr id="180" name="Text 15"/>
          <p:cNvSpPr txBox="1"/>
          <p:nvPr/>
        </p:nvSpPr>
        <p:spPr>
          <a:xfrm>
            <a:off x="11000231" y="6520180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BFBFBF"/>
                </a:solidFill>
              </a:defRPr>
            </a:lvl1pPr>
          </a:lstStyle>
          <a:p>
            <a:pPr/>
            <a:r>
              <a:t>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 0"/>
          <p:cNvSpPr txBox="1"/>
          <p:nvPr/>
        </p:nvSpPr>
        <p:spPr>
          <a:xfrm>
            <a:off x="640079" y="2343400"/>
            <a:ext cx="10908794" cy="616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400">
                <a:solidFill>
                  <a:srgbClr val="FFFFFF"/>
                </a:solidFill>
              </a:defRPr>
            </a:lvl1pPr>
          </a:lstStyle>
          <a:p>
            <a:pPr/>
            <a:r>
              <a:t>Dziękujemy</a:t>
            </a:r>
          </a:p>
        </p:txBody>
      </p:sp>
      <p:sp>
        <p:nvSpPr>
          <p:cNvPr id="183" name="Text 1"/>
          <p:cNvSpPr txBox="1"/>
          <p:nvPr/>
        </p:nvSpPr>
        <p:spPr>
          <a:xfrm>
            <a:off x="640079" y="3162229"/>
            <a:ext cx="10908794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>
                <a:solidFill>
                  <a:srgbClr val="BFBFBF"/>
                </a:solidFill>
              </a:defRPr>
            </a:lvl1pPr>
          </a:lstStyle>
          <a:p>
            <a:pPr/>
            <a:r>
              <a:t>Pytania?</a:t>
            </a:r>
          </a:p>
        </p:txBody>
      </p:sp>
      <p:sp>
        <p:nvSpPr>
          <p:cNvPr id="184" name="Shape 2"/>
          <p:cNvSpPr/>
          <p:nvPr/>
        </p:nvSpPr>
        <p:spPr>
          <a:xfrm>
            <a:off x="640079" y="4206240"/>
            <a:ext cx="2194562" cy="1"/>
          </a:xfrm>
          <a:prstGeom prst="line">
            <a:avLst/>
          </a:prstGeom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Text 3"/>
          <p:cNvSpPr txBox="1"/>
          <p:nvPr/>
        </p:nvSpPr>
        <p:spPr>
          <a:xfrm>
            <a:off x="640080" y="4541888"/>
            <a:ext cx="320040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Anton Hryshchuk</a:t>
            </a:r>
          </a:p>
        </p:txBody>
      </p:sp>
      <p:sp>
        <p:nvSpPr>
          <p:cNvPr id="186" name="Text 4"/>
          <p:cNvSpPr txBox="1"/>
          <p:nvPr/>
        </p:nvSpPr>
        <p:spPr>
          <a:xfrm>
            <a:off x="3931920" y="4548030"/>
            <a:ext cx="548640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BFBFBF"/>
                </a:solidFill>
              </a:defRPr>
            </a:lvl1pPr>
          </a:lstStyle>
          <a:p>
            <a:pPr/>
            <a:r>
              <a:t>Faza 1 - Czyszczenie danych</a:t>
            </a:r>
          </a:p>
        </p:txBody>
      </p:sp>
      <p:sp>
        <p:nvSpPr>
          <p:cNvPr id="187" name="Text 5"/>
          <p:cNvSpPr txBox="1"/>
          <p:nvPr/>
        </p:nvSpPr>
        <p:spPr>
          <a:xfrm>
            <a:off x="640080" y="5044808"/>
            <a:ext cx="320040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Ihor Kublytskyi</a:t>
            </a:r>
          </a:p>
        </p:txBody>
      </p:sp>
      <p:sp>
        <p:nvSpPr>
          <p:cNvPr id="188" name="Text 6"/>
          <p:cNvSpPr txBox="1"/>
          <p:nvPr/>
        </p:nvSpPr>
        <p:spPr>
          <a:xfrm>
            <a:off x="3931920" y="5050950"/>
            <a:ext cx="548640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BFBFBF"/>
                </a:solidFill>
              </a:defRPr>
            </a:lvl1pPr>
          </a:lstStyle>
          <a:p>
            <a:pPr/>
            <a:r>
              <a:t>Faza 2 - Analiza eksploracyjna</a:t>
            </a:r>
          </a:p>
        </p:txBody>
      </p:sp>
      <p:sp>
        <p:nvSpPr>
          <p:cNvPr id="189" name="Text 7"/>
          <p:cNvSpPr txBox="1"/>
          <p:nvPr/>
        </p:nvSpPr>
        <p:spPr>
          <a:xfrm>
            <a:off x="640080" y="5547728"/>
            <a:ext cx="320040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Katsiaryna Kozhych</a:t>
            </a:r>
          </a:p>
        </p:txBody>
      </p:sp>
      <p:sp>
        <p:nvSpPr>
          <p:cNvPr id="190" name="Text 8"/>
          <p:cNvSpPr txBox="1"/>
          <p:nvPr/>
        </p:nvSpPr>
        <p:spPr>
          <a:xfrm>
            <a:off x="3931920" y="5553870"/>
            <a:ext cx="548640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BFBFBF"/>
                </a:solidFill>
              </a:defRPr>
            </a:lvl1pPr>
          </a:lstStyle>
          <a:p>
            <a:pPr/>
            <a:r>
              <a:t>Faza 3 - Modelowanie i ewaluacja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